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2588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見守り隊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49808" y="221284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CareRoute AI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49808" y="2788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AIに家電を任せない、見守りサービス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32735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カメラを使わず、家電の電源だけで生活リズムを見る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16168" y="978408"/>
            <a:ext cx="2843784" cy="1947672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8" name="Image 0" descr="C:\Users\msoga\OneDrive - Smart Designer\Projects\見守り隊\docs\images\01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051560"/>
            <a:ext cx="2697480" cy="1801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60720" y="30632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Microsoft Fabric · .NET 10 Blazor · LINE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毎日の「元気かな」が、負担になる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見守る側と、見守られる側の両方に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886200" cy="148132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82296" cy="148132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83080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見守る側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1488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毎日電話するのは気が引ける。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かといって、何も知らないのは不安。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73168" y="1627632"/>
            <a:ext cx="3886200" cy="148132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0" name="Shape 8"/>
          <p:cNvSpPr/>
          <p:nvPr/>
        </p:nvSpPr>
        <p:spPr>
          <a:xfrm>
            <a:off x="4773168" y="1627632"/>
            <a:ext cx="82296" cy="14813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1" name="Text 9"/>
          <p:cNvSpPr/>
          <p:nvPr/>
        </p:nvSpPr>
        <p:spPr>
          <a:xfrm>
            <a:off x="5047488" y="1783080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見守られる側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47488" y="21488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カメラを付けられるのは抵抗がある。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監視されている感じがする。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8074152" cy="100584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566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取れる情報を減らして、受け入れやすさを取る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8680" y="3941064"/>
            <a:ext cx="7498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映像も音声も取らない。家電の ON/OFF と消費電力だけを見る。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電源の履歴だけで、ここまでわかる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絶対値ではなく「いつもとの差」を見る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5636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6:00-9:00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88720" y="177393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照明が点いた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29000" y="17465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31336" y="17465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起きた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258568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359152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2199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9:00-18:00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88720" y="2432304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何も動かない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429000" y="2404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31336" y="240487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いつもと違う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2916936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3017520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288036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0:00-5:00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88720" y="30906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何度も点く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42900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31336" y="3063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眠れていないかも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66928" y="3703320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この判定はAIではなく、ルールベースで行う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815584" y="1517904"/>
            <a:ext cx="289864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5" name="Image 0" descr="C:\Users\msoga\OneDrive - Smart Designer\Projects\見守り隊\docs\images\05-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72768"/>
            <a:ext cx="2788920" cy="185623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870448" y="34747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直近14日間の推移（濃い色が今日）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なぜ、AIが要るのか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ルールだけでは「異常」は出せても、「様子」は答えられない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86200" cy="212140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3886200" cy="64008"/>
          </a:xfrm>
          <a:prstGeom prst="rect">
            <a:avLst/>
          </a:prstGeom>
          <a:solidFill>
            <a:srgbClr val="4F7A5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7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ルールベースで足りる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06654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・照明が12時間点かない → 異常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3500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・深夜に3回以上点灯 → 注意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・安全判定（ON/OFF の可否）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2999232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判定は速く、説明でき、外部APIに依存しない。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だからここはAIに渡していない。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73168" y="1572768"/>
            <a:ext cx="3886200" cy="212140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1572768"/>
            <a:ext cx="3886200" cy="6400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10912" y="171907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ルールベースでは足りない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10912" y="206654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・「今日のお母さん、どう？」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10912" y="23500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・「最近ちょっと変じゃない？」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10912" y="2633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・数値ではなく、言葉で返す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10912" y="2999232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家族が知りたいのは閾値超えの有無ではなく、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「いつもと比べてどうか」という解釈。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877056"/>
            <a:ext cx="8074152" cy="658368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041648"/>
            <a:ext cx="8074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AIは「言葉」に使い、「判断」には使わない ― 役割を分けたから、両方を捨てずに済んだ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AIに、危険な判断をさせない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このプロジェクトで最も時間をかけた部分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「ストーブつけて」を誤解して、真夏に暖房を入れる。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高齢者の家でそれをやると、便利どころか事故になる。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42032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59689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252374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機器を安全クラスで分ける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" y="277977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照明・扇風機は Safe、ヒーター類は Restricted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18104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1729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309981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と OFF を非対称にする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335584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危険機器の ON は拒否、OFF は許可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74904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5568" y="36758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拒否も含めて全部記録する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15568" y="39319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成功・失敗・拒否をすべて監査ログへ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87568" y="1554480"/>
            <a:ext cx="3026664" cy="2066544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19" name="Image 0" descr="C:\Users\msoga\OneDrive - Smart Designer\Projects\見守り隊\docs\images\02-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627632"/>
            <a:ext cx="2880360" cy="19202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687568" y="3657600"/>
            <a:ext cx="3026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「ストーブつけて」→ 拒否。機器は停止中のまま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AIの出力は「候補」でしかない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最終判断は必ずルールベースの層を通る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8A7A8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47088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5798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05456" y="1737360"/>
            <a:ext cx="1234440" cy="868680"/>
          </a:xfrm>
          <a:prstGeom prst="roundRect">
            <a:avLst>
              <a:gd name="adj" fmla="val 8421"/>
            </a:avLst>
          </a:prstGeom>
          <a:solidFill>
            <a:srgbClr val="A26769"/>
          </a:solidFill>
          <a:ln/>
        </p:spPr>
      </p:sp>
      <p:sp>
        <p:nvSpPr>
          <p:cNvPr id="9" name="Text 7"/>
          <p:cNvSpPr/>
          <p:nvPr/>
        </p:nvSpPr>
        <p:spPr>
          <a:xfrm>
            <a:off x="2505456" y="184708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意図解析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5818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05656" y="173736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4105656" y="184708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確信度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 以上?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9554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3016" y="1737360"/>
            <a:ext cx="1234440" cy="868680"/>
          </a:xfrm>
          <a:prstGeom prst="roundRect">
            <a:avLst>
              <a:gd name="adj" fmla="val 8421"/>
            </a:avLst>
          </a:prstGeom>
          <a:solidFill>
            <a:srgbClr val="6D2E46"/>
          </a:solidFill>
          <a:ln/>
        </p:spPr>
      </p:sp>
      <p:sp>
        <p:nvSpPr>
          <p:cNvPr id="15" name="Text 13"/>
          <p:cNvSpPr/>
          <p:nvPr/>
        </p:nvSpPr>
        <p:spPr>
          <a:xfrm>
            <a:off x="5843016" y="184708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機器は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09574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43216" y="173736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4F7A5B"/>
          </a:solidFill>
          <a:ln/>
        </p:spPr>
      </p:sp>
      <p:sp>
        <p:nvSpPr>
          <p:cNvPr id="18" name="Text 16"/>
          <p:cNvSpPr/>
          <p:nvPr/>
        </p:nvSpPr>
        <p:spPr>
          <a:xfrm>
            <a:off x="7443216" y="1847088"/>
            <a:ext cx="1051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77740" y="2606040"/>
            <a:ext cx="27432" cy="274320"/>
          </a:xfrm>
          <a:prstGeom prst="rect">
            <a:avLst/>
          </a:prstGeom>
          <a:solidFill>
            <a:srgbClr val="8A7A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59689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05656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ECE2D0"/>
          </a:solidFill>
          <a:ln/>
        </p:spPr>
      </p:sp>
      <p:sp>
        <p:nvSpPr>
          <p:cNvPr id="22" name="Text 20"/>
          <p:cNvSpPr/>
          <p:nvPr/>
        </p:nvSpPr>
        <p:spPr>
          <a:xfrm>
            <a:off x="4105656" y="29900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確認を返す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46520" y="2606040"/>
            <a:ext cx="27432" cy="274320"/>
          </a:xfrm>
          <a:prstGeom prst="rect">
            <a:avLst/>
          </a:prstGeom>
          <a:solidFill>
            <a:srgbClr val="8A7A80"/>
          </a:solidFill>
          <a:ln/>
        </p:spPr>
      </p:sp>
      <p:sp>
        <p:nvSpPr>
          <p:cNvPr id="24" name="Text 22"/>
          <p:cNvSpPr/>
          <p:nvPr/>
        </p:nvSpPr>
        <p:spPr>
          <a:xfrm>
            <a:off x="6515100" y="259689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74436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B23A48"/>
          </a:solidFill>
          <a:ln/>
        </p:spPr>
      </p:sp>
      <p:sp>
        <p:nvSpPr>
          <p:cNvPr id="26" name="Text 24"/>
          <p:cNvSpPr/>
          <p:nvPr/>
        </p:nvSpPr>
        <p:spPr>
          <a:xfrm>
            <a:off x="5774436" y="29900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703320"/>
            <a:ext cx="8074152" cy="713232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886200"/>
            <a:ext cx="8074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すべての経路が監査ログへ集まる ― 成功も、確認も、拒否も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「消す」は通す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安全性を高める方向の操作まで止めると、使い物にならない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86200" cy="16916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3886200" cy="4572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67335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ストーブ つけて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" y="21945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拒否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633472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安全のため音声・チャットからの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操作を禁止しています。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73168" y="1600200"/>
            <a:ext cx="3886200" cy="16916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4773168" y="1600200"/>
            <a:ext cx="3886200" cy="457200"/>
          </a:xfrm>
          <a:prstGeom prst="rect">
            <a:avLst/>
          </a:prstGeom>
          <a:solidFill>
            <a:srgbClr val="4F7A5B"/>
          </a:solidFill>
          <a:ln/>
        </p:spPr>
      </p:sp>
      <p:sp>
        <p:nvSpPr>
          <p:cNvPr id="12" name="Text 10"/>
          <p:cNvSpPr/>
          <p:nvPr/>
        </p:nvSpPr>
        <p:spPr>
          <a:xfrm>
            <a:off x="4974336" y="167335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ストーブ 消して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74336" y="21945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7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受理（確認あり）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74336" y="2633472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消します。よろしいですか？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→「はい」で実行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3520440"/>
            <a:ext cx="8074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拒否の理由が使う人に見えないと、ただの故障に見える。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そのため機器カードにも「安全のため、遠隔では消す操作だけできます」と表示している。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構成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APIキーがゼロでも、dotnet run だけで全機能が動く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45920"/>
            <a:ext cx="1700784" cy="5486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入力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SwitchBot Plug Mini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Messaging API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04288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33472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2633472" y="1645920"/>
            <a:ext cx="1700784" cy="54864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2779776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アプリ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79776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 Blazor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70832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0016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0016" y="1645920"/>
            <a:ext cx="1700784" cy="54864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蓄積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Eventhouse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37376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6766560" y="1645920"/>
            <a:ext cx="1700784" cy="5486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2" name="Text 20"/>
          <p:cNvSpPr/>
          <p:nvPr/>
        </p:nvSpPr>
        <p:spPr>
          <a:xfrm>
            <a:off x="6912864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12864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OrcaRouter (LLM)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3127248"/>
            <a:ext cx="8074152" cy="91440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32461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データを2系統に分けた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" y="353872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DeviceEvents（状態変化）と SwitchBotPlugReadings（電力テレメトリ）は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コードを共有していない。片方の障害がもう片方を巻き込まないため。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LLMコストは、設計で削る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呼ぶ回数を減らす。これが一番効く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517904"/>
            <a:ext cx="3886200" cy="1627632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3886200" cy="64008"/>
          </a:xfrm>
          <a:prstGeom prst="rect">
            <a:avLst/>
          </a:prstGeom>
          <a:solidFill>
            <a:srgbClr val="4F7A5B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7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センサー経路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190195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5分ごとのポーリング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98648" y="16093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4F7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r" indent="0" marL="0">
              <a:buNone/>
            </a:pPr>
            <a:r>
              <a:rPr lang="en-US" sz="1300" dirty="0">
                <a:solidFill>
                  <a:srgbClr val="4F7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回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898648" y="215798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LLM呼び出し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243230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1世帯あたり 288回/日 の取得と判定。すべてルールベースなので、デバイスが増えても LLM 費用は増えない。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73168" y="1517904"/>
            <a:ext cx="3886200" cy="1627632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1517904"/>
            <a:ext cx="3886200" cy="6400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4" name="Text 12"/>
          <p:cNvSpPr/>
          <p:nvPr/>
        </p:nvSpPr>
        <p:spPr>
          <a:xfrm>
            <a:off x="4992624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会話経路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92624" y="190195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家族が話しかけたときだけ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04888" y="16093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r" indent="0" marL="0">
              <a:buNone/>
            </a:pPr>
            <a:r>
              <a:rPr lang="en-US" sz="1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回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104888" y="215798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発話あたり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92624" y="243230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意図解析・要約・通知文の生成のみ。費用は「世帯数」ではなく「会話した回数」に比例する。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218688"/>
            <a:ext cx="8074152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ECE2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31012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締切のある経路だけ、安いモデルに固定する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3566160"/>
            <a:ext cx="7635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の webhook は 8 秒で打ち切られる。自動ルータは同じプロンプトで 5.6〜51 秒とばらついたため、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この経路だけ gpt-4.1-mini に固定（実測 3〜5 秒）。他の画面は自動ルータのまま＝速さと費用を両取りする。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206240"/>
            <a:ext cx="8074152" cy="54864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325112"/>
            <a:ext cx="8074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APIキー0本でも全機能が動く ― 審査でも運用でも、課金せずに試せる状態を既定にした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沈黙して壊れた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97280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3件とも、例外は一度も投げていない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00784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存在しないテーブルに投げ続けた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アプリ側だけ実装し、Eventhouse にテーブルを作っていなかった。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1日半、400 を返し続けて容量を焼いた。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560320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560320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33472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宛先が Paused のまま、送信は成功していた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2907792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Hub は正常に受理し、アプリは「送信済み」を記録。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3日分のデータが静かに消えた。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493008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493008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35661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3Dマスコットが一度も起動していなかった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3840480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「動いている」と報告したが、実際は初期化されていなかった。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計測方法そのものが間違っていた。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4462272"/>
            <a:ext cx="80741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「送信成功」は「到達」ではない。届いた側を見ないと気づけない。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見る人と、使う人で画面を分ける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必要な情報がまったく違うため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93776" y="1554480"/>
            <a:ext cx="4078224" cy="2587752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6" name="Image 0" descr="C:\Users\msoga\OneDrive - Smart Designer\Projects\見守り隊\docs\images\06-one-tou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3931920" cy="24414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3776" y="4187952"/>
            <a:ext cx="4078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利用者本人が使う /one-touch 画面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864608" y="1691640"/>
            <a:ext cx="3794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高齢の利用者本人が使う画面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文字とボタンを大きくした専用画面（/one-touch）を用意。
見守る側のダッシュボードとは分けている。
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家族はLINEで聞くだけ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専用アプリのインストールは不要。</a:t>
            </a:r>
            <a:endParaRPr lang="en-US" sz="16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「今日のお母さんどう？」と聞けば、</a:t>
            </a:r>
            <a:endParaRPr lang="en-US" sz="16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蓄積された生活データから答える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誰が、いくら払うのか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カメラを置けなかった家庭が、そのまま顧客になる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514600" cy="137160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約700万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4944" y="2157984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2414016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65歳以上の一人暮らし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（内閣府 高齢社会白書）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536192"/>
            <a:ext cx="2514600" cy="137160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6824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3,000〜5,000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419856" y="2157984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 / 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19856" y="2414016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既存のセンサー型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見守りサービスの相場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16752" y="1536192"/>
            <a:ext cx="2514600" cy="137160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4" name="Text 12"/>
          <p:cNvSpPr/>
          <p:nvPr/>
        </p:nvSpPr>
        <p:spPr>
          <a:xfrm>
            <a:off x="6108192" y="16824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144768" y="2157984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44768" y="2414016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新規の見守り機器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（家電はすでにある）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017520"/>
            <a:ext cx="8074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成立の条件は「安いこと」ではなく、「置けること」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3419856"/>
            <a:ext cx="64008" cy="29260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33649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導入の障壁を外した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336499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カメラもマットも要らない。スマートプラグを既存の家電に挿すだけ。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「見張られる」と感じさせないから、本人が拒まない。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3858768"/>
            <a:ext cx="64008" cy="29260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8039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受け手の負担も外した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743200" y="3803904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専用アプリを入れさせない。通知も操作も LINE の中で完結する。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インストール率という最大の離脱要因が、そもそも発生しない。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297680"/>
            <a:ext cx="64008" cy="29260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42428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原価が積み上がらない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743200" y="424281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判定はルールベース、LLM は会話時のみ。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1世帯あたりの固定費が小さく、月額数百円台でも粗利が残る。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AIは会話に使い、判断には使わない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テスト（全合格）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3101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3101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必要なAPIキー（デモ実行時）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0533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0533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記録した「沈黙した障害」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108960"/>
            <a:ext cx="8074152" cy="123444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918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  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https://app-mimamoritai-hack.azurewebsites.net/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  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https://github.com/monoqlo78/mimamoritai-careroute-ai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50208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安全判定をLLMの外側に置いたか、内側でお願いしたか。そこが一番の分岐点だった。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見守り隊 / CareRoute AI</dc:title>
  <dc:subject>PptxGenJS Presentation</dc:subject>
  <dc:creator>CareRoute AI</dc:creator>
  <cp:lastModifiedBy>CareRoute AI</cp:lastModifiedBy>
  <cp:revision>1</cp:revision>
  <dcterms:created xsi:type="dcterms:W3CDTF">2026-08-12T18:44:12Z</dcterms:created>
  <dcterms:modified xsi:type="dcterms:W3CDTF">2026-08-12T18:44:12Z</dcterms:modified>
</cp:coreProperties>
</file>