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1847088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見守り隊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097280" y="2999232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spc="200" kern="0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CareRoute AI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1097280" y="3639312"/>
            <a:ext cx="1371600" cy="2743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387705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見守りサービス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97280" y="440740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家電の電源で生活リズムを見る</a:t>
            </a:r>
            <a:endParaRPr lang="en-US" sz="1350" dirty="0"/>
          </a:p>
        </p:txBody>
      </p:sp>
      <p:pic>
        <p:nvPicPr>
          <p:cNvPr id="8" name="Image 0" descr="C:\Users\msoga\OneDrive - Smart Designer\Projects\見守り隊\docs\images\01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1847088"/>
            <a:ext cx="4389120" cy="29260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995160" y="1847088"/>
            <a:ext cx="4389120" cy="2926080"/>
          </a:xfrm>
          <a:prstGeom prst="rect">
            <a:avLst/>
          </a:prstGeom>
          <a:ln w="12700">
            <a:solidFill>
              <a:srgbClr val="E4DE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95160" y="48920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 ・ Microsoft Fabric ・ .NET 10 Blazor ・ LINE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毎日の「元気かな」が、負担になる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見守る側と、見守られる側の両方に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810512"/>
            <a:ext cx="5090008" cy="1572768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0512"/>
            <a:ext cx="5090008" cy="457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6" name="Text 4"/>
          <p:cNvSpPr/>
          <p:nvPr/>
        </p:nvSpPr>
        <p:spPr>
          <a:xfrm>
            <a:off x="1161288" y="2048256"/>
            <a:ext cx="432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見守る側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61288" y="2505456"/>
            <a:ext cx="432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毎日電話するのは気が引ける。</a:t>
            </a:r>
            <a:endParaRPr lang="en-US" sz="13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かといって、何も知らないのは不安。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24448" y="1810512"/>
            <a:ext cx="5090008" cy="1572768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24448" y="1810512"/>
            <a:ext cx="5090008" cy="457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/>
          <p:nvPr/>
        </p:nvSpPr>
        <p:spPr>
          <a:xfrm>
            <a:off x="6708496" y="2048256"/>
            <a:ext cx="432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見守られる側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08496" y="2505456"/>
            <a:ext cx="432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カメラを付けられるのは抵抗がある。</a:t>
            </a:r>
            <a:endParaRPr lang="en-US" sz="13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監視されている感じがする。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77240" y="3785616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取れる情報を減らして、受け入れやすさを取る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77240" y="429768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映像も音声も取らない。家電の ON/OFF と消費電力だけを見る。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見られたくない人と、知りたい人。その両方が受け入れられる線を引いた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電源の履歴だけで、ここまでわかる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絶対値ではなく「いつもとの差」を見る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847088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D2E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470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691640" y="18288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6:00 - 9:00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691640" y="206654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照明が点いた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931920" y="184708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434840" y="184708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起きた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777240" y="2651760"/>
            <a:ext cx="5989320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2779776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D2E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7797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91640" y="27614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9:00 - 18:00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91640" y="29992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何も動かない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931920" y="2779776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434840" y="277977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いつもと違う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77240" y="3584448"/>
            <a:ext cx="5989320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3712464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D2E4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71246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91640" y="36941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0:00 - 5:00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9319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何度も点く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931920" y="3712464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434840" y="371246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眠れていないかも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77240" y="4626864"/>
            <a:ext cx="5989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この判定は AI ではなく、ルールベースで行う</a:t>
            </a:r>
            <a:endParaRPr lang="en-US" sz="1250" dirty="0"/>
          </a:p>
        </p:txBody>
      </p:sp>
      <p:pic>
        <p:nvPicPr>
          <p:cNvPr id="25" name="Image 0" descr="C:\Users\msoga\OneDrive - Smart Designer\Projects\見守り隊\docs\images\05-tre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847088"/>
            <a:ext cx="4114800" cy="274320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7269480" y="1847088"/>
            <a:ext cx="4114800" cy="2743200"/>
          </a:xfrm>
          <a:prstGeom prst="rect">
            <a:avLst/>
          </a:prstGeom>
          <a:ln w="12700">
            <a:solidFill>
              <a:srgbClr val="E4DED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269480" y="468172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直近14日間の推移（濃い色が今日）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</p:sp>
      <p:sp>
        <p:nvSpPr>
          <p:cNvPr id="29" name="Shape 26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0" name="Text 27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しきい値ではなく、その人自身の平常と比べる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なぜ、AI が要るのか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ルールだけでは「異常」は出せても、「様子」は答えられない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5090008" cy="3035808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5090008" cy="4572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1161288" y="2157984"/>
            <a:ext cx="432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C5F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ルールベースで足りる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197864" y="2706624"/>
            <a:ext cx="426704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70000"/>
              </a:lnSpc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照明が12時間点かない → 異常</a:t>
            </a:r>
            <a:endParaRPr lang="en-US" sz="1350" dirty="0"/>
          </a:p>
          <a:p>
            <a:pPr marL="342900" indent="-342900">
              <a:lnSpc>
                <a:spcPct val="170000"/>
              </a:lnSpc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深夜に3回以上点灯 → 注意</a:t>
            </a:r>
            <a:endParaRPr lang="en-US" sz="1350" dirty="0"/>
          </a:p>
          <a:p>
            <a:pPr marL="342900" indent="-342900">
              <a:lnSpc>
                <a:spcPct val="170000"/>
              </a:lnSpc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安全判定（ON/OFF の可否）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161288" y="4114800"/>
            <a:ext cx="432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判定は速く、説明でき、外部APIに依存しない。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だからここは AI に渡していない。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24448" y="1874520"/>
            <a:ext cx="5090008" cy="3035808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24448" y="1874520"/>
            <a:ext cx="5090008" cy="45720"/>
          </a:xfrm>
          <a:prstGeom prst="rect">
            <a:avLst/>
          </a:prstGeom>
          <a:solidFill>
            <a:srgbClr val="9E2A2B"/>
          </a:solidFill>
          <a:ln/>
        </p:spPr>
      </p:sp>
      <p:sp>
        <p:nvSpPr>
          <p:cNvPr id="11" name="Text 9"/>
          <p:cNvSpPr/>
          <p:nvPr/>
        </p:nvSpPr>
        <p:spPr>
          <a:xfrm>
            <a:off x="6708496" y="2157984"/>
            <a:ext cx="432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A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ルールベースでは足りない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745072" y="2706624"/>
            <a:ext cx="426704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70000"/>
              </a:lnSpc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「今日のお母さん、どう？」</a:t>
            </a:r>
            <a:endParaRPr lang="en-US" sz="1350" dirty="0"/>
          </a:p>
          <a:p>
            <a:pPr marL="342900" indent="-342900">
              <a:lnSpc>
                <a:spcPct val="170000"/>
              </a:lnSpc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「最近ちょっと変じゃない？」</a:t>
            </a:r>
            <a:endParaRPr lang="en-US" sz="1350" dirty="0"/>
          </a:p>
          <a:p>
            <a:pPr marL="342900" indent="-342900">
              <a:lnSpc>
                <a:spcPct val="170000"/>
              </a:lnSpc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数値ではなく、言葉で返す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708496" y="4114800"/>
            <a:ext cx="432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家族が知りたいのは閾値超えの有無ではなく、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「いつもと比べてどうか」という解釈。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は「言葉」に使い、「判断」には使わない — 役割を分けたから、両方を捨てずに済んだ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に、危険な判断をさせない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このプロジェクトで最も時間をかけた部分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77240" y="1810512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「ストーブつけて」を誤解して、真夏に暖房を入れる。</a:t>
            </a:r>
            <a:endParaRPr lang="en-US" sz="14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高齢者の家でそれをやると、便利どころか事故になる。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772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34440" y="277063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機器を安全クラスで分ける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234440" y="30815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照明・扇風機は Safe、ヒーター類は Restricted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234440" y="3538728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ON と OFF を非対称にする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234440" y="384962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危険機器の ON は拒否、OFF は許可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234440" y="4306824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拒否も含めて全部記録する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234440" y="46177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成功・失敗・拒否をすべて監査ログへ</a:t>
            </a:r>
            <a:endParaRPr lang="en-US" sz="1150" dirty="0"/>
          </a:p>
        </p:txBody>
      </p:sp>
      <p:pic>
        <p:nvPicPr>
          <p:cNvPr id="14" name="Image 0" descr="C:\Users\msoga\OneDrive - Smart Designer\Projects\見守り隊\docs\images\02-guardr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810512"/>
            <a:ext cx="4114800" cy="27432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7269480" y="1810512"/>
            <a:ext cx="4114800" cy="2743200"/>
          </a:xfrm>
          <a:prstGeom prst="rect">
            <a:avLst/>
          </a:prstGeom>
          <a:ln w="12700">
            <a:solidFill>
              <a:srgbClr val="E4DE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269480" y="46451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「ストーブつけて」→ 拒否。機器は停止中のまま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</p:sp>
      <p:sp>
        <p:nvSpPr>
          <p:cNvPr id="18" name="Shape 15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9" name="Text 16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できないことを、できないと言う。それが家電を任せる条件だった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の出力は「候補」でしかない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最終判断は必ずルールベースの層を通る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2084832"/>
            <a:ext cx="210312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B9B9B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84832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「ストーブつけて」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962656" y="2679192"/>
            <a:ext cx="219456" cy="0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64408" y="2084832"/>
            <a:ext cx="169164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A267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55848" y="2084832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意図解析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38344" y="2679192"/>
            <a:ext cx="219456" cy="0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340096" y="2084832"/>
            <a:ext cx="182880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6D2E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31536" y="2084832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確信度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0.85 以上?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251192" y="2679192"/>
            <a:ext cx="219456" cy="0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552944" y="2084832"/>
            <a:ext cx="169164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6D2E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44384" y="2084832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機器は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Safe?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326880" y="2679192"/>
            <a:ext cx="219456" cy="0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28632" y="2084832"/>
            <a:ext cx="1554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20072" y="2084832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C5F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54496" y="3346704"/>
            <a:ext cx="0" cy="493776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6382512" y="33832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40096" y="3877056"/>
            <a:ext cx="182880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A267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40096" y="3877056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確認を返す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398764" y="3346704"/>
            <a:ext cx="0" cy="493776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8526780" y="33832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552944" y="3877056"/>
            <a:ext cx="16916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9E2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52944" y="3877056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E2A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拒否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</p:sp>
      <p:sp>
        <p:nvSpPr>
          <p:cNvPr id="27" name="Shape 25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28" name="Text 26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すべての経路が監査ログへ集まる — 成功も、確認も、拒否も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「消す」は通す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安全性を高める方向の操作まで止めると、使い物にならない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5090008" cy="2148840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5090008" cy="530352"/>
          </a:xfrm>
          <a:prstGeom prst="rect">
            <a:avLst/>
          </a:prstGeom>
          <a:solidFill>
            <a:srgbClr val="9E2A2B"/>
          </a:solidFill>
          <a:ln/>
        </p:spPr>
      </p:sp>
      <p:sp>
        <p:nvSpPr>
          <p:cNvPr id="6" name="Text 4"/>
          <p:cNvSpPr/>
          <p:nvPr/>
        </p:nvSpPr>
        <p:spPr>
          <a:xfrm>
            <a:off x="1161288" y="1874520"/>
            <a:ext cx="4321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ストーブ つけて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61288" y="2578608"/>
            <a:ext cx="4321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拒否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61288" y="3200400"/>
            <a:ext cx="4321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安全のため音声・チャットからの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操作を禁止しています。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24448" y="1874520"/>
            <a:ext cx="5090008" cy="2148840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24448" y="1874520"/>
            <a:ext cx="5090008" cy="530352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6708496" y="1874520"/>
            <a:ext cx="4321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ストーブ 消して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708496" y="2578608"/>
            <a:ext cx="4321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受理（確認あり）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708496" y="3200400"/>
            <a:ext cx="4321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消します。よろしいですか？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→「はい」で実行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25196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拒否の理由が使う人に見えないと、ただの故障に見える。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そのため機器カードにも「安全のため、遠隔では消す操作だけできます」と表示している。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止めるのは危険を増やす操作だけ。減らす操作は通す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構成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dotnetだけで全機能が動く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2316404" cy="1691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65960"/>
            <a:ext cx="2316404" cy="457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6" name="Text 4"/>
          <p:cNvSpPr/>
          <p:nvPr/>
        </p:nvSpPr>
        <p:spPr>
          <a:xfrm>
            <a:off x="1069848" y="2194560"/>
            <a:ext cx="1731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9848" y="2633472"/>
            <a:ext cx="17311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SwitchBot Plug Mini</a:t>
            </a:r>
            <a:endParaRPr lang="en-US" sz="12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Messaging API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175940" y="2811780"/>
            <a:ext cx="292608" cy="0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550844" y="1965960"/>
            <a:ext cx="2316404" cy="1691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50844" y="1965960"/>
            <a:ext cx="2316404" cy="457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1" name="Text 9"/>
          <p:cNvSpPr/>
          <p:nvPr/>
        </p:nvSpPr>
        <p:spPr>
          <a:xfrm>
            <a:off x="3843452" y="2194560"/>
            <a:ext cx="1731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843452" y="2633472"/>
            <a:ext cx="17311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.NET 10 Blazor</a:t>
            </a:r>
            <a:endParaRPr lang="en-US" sz="12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 Service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9544" y="2811780"/>
            <a:ext cx="292608" cy="0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24448" y="1965960"/>
            <a:ext cx="2316404" cy="1691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24448" y="1965960"/>
            <a:ext cx="2316404" cy="457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6" name="Text 14"/>
          <p:cNvSpPr/>
          <p:nvPr/>
        </p:nvSpPr>
        <p:spPr>
          <a:xfrm>
            <a:off x="6617056" y="2194560"/>
            <a:ext cx="1731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蓄積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17056" y="2633472"/>
            <a:ext cx="17311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 SQL</a:t>
            </a:r>
            <a:endParaRPr lang="en-US" sz="12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Fabric Eventhouse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723147" y="2811780"/>
            <a:ext cx="292608" cy="0"/>
          </a:xfrm>
          <a:prstGeom prst="line">
            <a:avLst/>
          </a:prstGeom>
          <a:noFill/>
          <a:ln w="1587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098051" y="1965960"/>
            <a:ext cx="2316404" cy="1691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98051" y="1965960"/>
            <a:ext cx="2316404" cy="457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21" name="Text 19"/>
          <p:cNvSpPr/>
          <p:nvPr/>
        </p:nvSpPr>
        <p:spPr>
          <a:xfrm>
            <a:off x="9390659" y="2194560"/>
            <a:ext cx="1731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分析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90659" y="2633472"/>
            <a:ext cx="17311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Fabric Data Agent</a:t>
            </a:r>
            <a:endParaRPr lang="en-US" sz="12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OrcaRouter (LLM)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77240" y="3950208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データを2系統に分けた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77240" y="4407408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DeviceEvents（状態変化）と SwitchBotPlugReadings（電力テレメトリ）は、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コードを共有していない。片方の障害がもう片方を巻き込まないため。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27" name="Text 25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壊れる範囲をあらかじめ決めておく。それが分離の目的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秘密を、コードにもアプリ設定にも置かない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持たない・渡さない・見せない、の3つで分けた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792224"/>
            <a:ext cx="45720" cy="859536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7922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持たない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2468880" y="1792224"/>
            <a:ext cx="8945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 ＋ マネージドID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2468880" y="2121408"/>
            <a:ext cx="8945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本番の App Service には秘密情報が1件も無い。起動時に Key Vault から読み込み、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認証はマネージドID。Key Vault に繋ぐための資格情報そのものが存在しない。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271576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788920"/>
            <a:ext cx="45720" cy="859536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7889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渡さない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68880" y="2788920"/>
            <a:ext cx="8945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Entra External ID / LINE Login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468880" y="3118104"/>
            <a:ext cx="8945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認証は OIDC に委譲し、パスワードを預からない。世帯の紐付けは発行元とサブジェクトで行い、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どの世帯を見られるかはサーバー側で毎回判定する。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712464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785616"/>
            <a:ext cx="45720" cy="859536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378561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見せない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2468880" y="3785616"/>
            <a:ext cx="8945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Data Protection ＋ 署名検証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2468880" y="4114800"/>
            <a:ext cx="8945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家族が入力する SwitchBot のキーは暗号化して保存し、画面にも二度と出さない。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の webhook は HMAC-SHA256 を定数時間で比較し、合わなければ 401。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77240" y="486460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秘密情報が無くても全機能が動く、という前提は変えていない。Key Vault の場所が未設定なら参照しない。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秘密を扱う場所を減らす。持たなければ、漏れない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コストは、設計で削る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呼ぶ回数を減らす。これが一番効く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847088"/>
            <a:ext cx="5090008" cy="1847088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47088"/>
            <a:ext cx="5090008" cy="4572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1161288" y="2066544"/>
            <a:ext cx="3078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センサー経路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61288" y="2404872"/>
            <a:ext cx="307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5分ごとのポーリング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92728" y="2029968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pPr algn="r" indent="0" marL="0">
              <a:buNone/>
            </a:pPr>
            <a:r>
              <a:rPr lang="en-US" sz="1300" dirty="0">
                <a:solidFill>
                  <a:srgbClr val="2C5F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回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992728" y="2697480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LLM 呼び出し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61288" y="3017520"/>
            <a:ext cx="4321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1世帯あたり 288回/日 の取得と判定。すべてルールベースなので、デバイスが増えても LLM 費用は増えない。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24448" y="1847088"/>
            <a:ext cx="5090008" cy="1847088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24448" y="1847088"/>
            <a:ext cx="5090008" cy="4572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/>
          <p:nvPr/>
        </p:nvSpPr>
        <p:spPr>
          <a:xfrm>
            <a:off x="6708496" y="2066544"/>
            <a:ext cx="3078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会話経路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08496" y="2404872"/>
            <a:ext cx="307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家族が話しかけたときだけ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539935" y="2029968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algn="r" indent="0" marL="0">
              <a:buNone/>
            </a:pPr>
            <a:r>
              <a:rPr lang="en-US" sz="1300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回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9539935" y="2697480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LLM 呼び出し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08496" y="3017520"/>
            <a:ext cx="4321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意図解析・要約・通知文の生成のみ。費用は「世帯数」ではなく「会話した回数」に比例する。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968496"/>
            <a:ext cx="10637215" cy="1060704"/>
          </a:xfrm>
          <a:prstGeom prst="rect">
            <a:avLst/>
          </a:prstGeom>
          <a:solidFill>
            <a:srgbClr val="FFFFFF"/>
          </a:solidFill>
          <a:ln w="15875">
            <a:solidFill>
              <a:srgbClr val="E4DE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61288" y="4059936"/>
            <a:ext cx="98691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OrcaRouter に選ばせる。締切のある経路だけ固定する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161288" y="4352544"/>
            <a:ext cx="98691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既定は orcarouter/auto。1回のキーで複数プロバイダを使い分け、選ばれたモデル名を画面に出す。</a:t>
            </a:r>
            <a:endParaRPr lang="en-US" sz="10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 は 8 秒で打ち切られ、auto は同じ問いで 5.6〜51 秒とばらつくため、この経路だけ gpt-4.1-mini に固定（3〜5 秒）。</a:t>
            </a:r>
            <a:endParaRPr lang="en-US" sz="10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画面側も auto がタイムアウトしたら固定モデルへ退避する（本番実測 2.3 秒）＝速さと費用を両取りする。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API キー0本でも全機能が動く — 審査でも運用でも、課金せずに試せる状態を既定にした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沈黙して壊れた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3件とも、例外は一度も投げていない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45720" cy="868680"/>
          </a:xfrm>
          <a:prstGeom prst="rect">
            <a:avLst/>
          </a:prstGeom>
          <a:solidFill>
            <a:srgbClr val="9E2A2B"/>
          </a:solidFill>
          <a:ln/>
        </p:spPr>
      </p:sp>
      <p:sp>
        <p:nvSpPr>
          <p:cNvPr id="5" name="Text 3"/>
          <p:cNvSpPr/>
          <p:nvPr/>
        </p:nvSpPr>
        <p:spPr>
          <a:xfrm>
            <a:off x="1069848" y="1874520"/>
            <a:ext cx="103446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存在しないテーブルに投げ続けた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069848" y="2203704"/>
            <a:ext cx="103446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アプリ側だけ実装し、Eventhouse にテーブルを作っていなかった。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1日半、400 を返し続けて容量を焼いた。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2825496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898648"/>
            <a:ext cx="45720" cy="868680"/>
          </a:xfrm>
          <a:prstGeom prst="rect">
            <a:avLst/>
          </a:prstGeom>
          <a:solidFill>
            <a:srgbClr val="9E2A2B"/>
          </a:solidFill>
          <a:ln/>
        </p:spPr>
      </p:sp>
      <p:sp>
        <p:nvSpPr>
          <p:cNvPr id="9" name="Text 7"/>
          <p:cNvSpPr/>
          <p:nvPr/>
        </p:nvSpPr>
        <p:spPr>
          <a:xfrm>
            <a:off x="1069848" y="2898648"/>
            <a:ext cx="103446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宛先が Paused のまま、送信は成功していた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069848" y="3227832"/>
            <a:ext cx="103446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Event Hub は正常に受理し、アプリは「送信済み」を記録。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3日分のデータが静かに消えた。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3849624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922776"/>
            <a:ext cx="45720" cy="868680"/>
          </a:xfrm>
          <a:prstGeom prst="rect">
            <a:avLst/>
          </a:prstGeom>
          <a:solidFill>
            <a:srgbClr val="9E2A2B"/>
          </a:solidFill>
          <a:ln/>
        </p:spPr>
      </p:sp>
      <p:sp>
        <p:nvSpPr>
          <p:cNvPr id="13" name="Text 11"/>
          <p:cNvSpPr/>
          <p:nvPr/>
        </p:nvSpPr>
        <p:spPr>
          <a:xfrm>
            <a:off x="1069848" y="3922776"/>
            <a:ext cx="103446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3Dマスコットが一度も起動していなかった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069848" y="4251960"/>
            <a:ext cx="103446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「動いている」と報告したが、実際は初期化されていなかった。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計測方法そのものが間違っていた。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「送信成功」は「到達」ではない。届いた側を見ないと気づけない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見る人と、使う人で画面を分ける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必要な情報がまったく違うため</a:t>
            </a:r>
            <a:endParaRPr lang="en-US" sz="1350" dirty="0"/>
          </a:p>
        </p:txBody>
      </p:sp>
      <p:pic>
        <p:nvPicPr>
          <p:cNvPr id="4" name="Image 0" descr="C:\Users\msoga\OneDrive - Smart Designer\Projects\見守り隊\docs\images\06-one-tou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10512"/>
            <a:ext cx="438912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810512"/>
            <a:ext cx="4389120" cy="2926080"/>
          </a:xfrm>
          <a:prstGeom prst="rect">
            <a:avLst/>
          </a:prstGeom>
          <a:ln w="12700">
            <a:solidFill>
              <a:srgbClr val="E4DED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8280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利用者本人が使う /one-touch 画面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10512"/>
            <a:ext cx="5653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高齢の利用者本人が使う画面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760720" y="2212848"/>
            <a:ext cx="1005840" cy="25603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9" name="Text 6"/>
          <p:cNvSpPr/>
          <p:nvPr/>
        </p:nvSpPr>
        <p:spPr>
          <a:xfrm>
            <a:off x="5760720" y="2359152"/>
            <a:ext cx="56537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文字とボタンを大きくした専用画面（/one-touch）を用意。</a:t>
            </a:r>
            <a:endParaRPr lang="en-US" sz="12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見守る側のダッシュボードとは分けている。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760720" y="3291840"/>
            <a:ext cx="5653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家族は LINE で聞くだけ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760720" y="3694176"/>
            <a:ext cx="1005840" cy="25603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2" name="Text 9"/>
          <p:cNvSpPr/>
          <p:nvPr/>
        </p:nvSpPr>
        <p:spPr>
          <a:xfrm>
            <a:off x="5760720" y="3840480"/>
            <a:ext cx="56537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専用アプリのインストールは不要。</a:t>
            </a:r>
            <a:endParaRPr lang="en-US" sz="12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「今日のお母さんどう？」と聞けば、蓄積された生活データから答える。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5230368"/>
            <a:ext cx="10637215" cy="658368"/>
          </a:xfrm>
          <a:prstGeom prst="rect">
            <a:avLst/>
          </a:prstGeom>
          <a:solidFill>
            <a:srgbClr val="F7F4F2"/>
          </a:solidFill>
          <a:ln/>
        </p:spPr>
      </p:sp>
      <p:sp>
        <p:nvSpPr>
          <p:cNvPr id="14" name="Shape 11"/>
          <p:cNvSpPr/>
          <p:nvPr/>
        </p:nvSpPr>
        <p:spPr>
          <a:xfrm>
            <a:off x="777240" y="5230368"/>
            <a:ext cx="50292" cy="658368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15" name="Text 12"/>
          <p:cNvSpPr/>
          <p:nvPr/>
        </p:nvSpPr>
        <p:spPr>
          <a:xfrm>
            <a:off x="1051560" y="5230368"/>
            <a:ext cx="10134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見る側と使う側に、同じ画面を出さない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20624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誰が、いくら払うのか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カメラを置けなかった家庭が、そのまま顧客になる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3240938" cy="1508760"/>
          </a:xfrm>
          <a:prstGeom prst="rect">
            <a:avLst/>
          </a:prstGeom>
          <a:solidFill>
            <a:srgbClr val="F7F4F2"/>
          </a:solidFill>
          <a:ln/>
        </p:spPr>
      </p:sp>
      <p:sp>
        <p:nvSpPr>
          <p:cNvPr id="5" name="Text 3"/>
          <p:cNvSpPr/>
          <p:nvPr/>
        </p:nvSpPr>
        <p:spPr>
          <a:xfrm>
            <a:off x="850392" y="1975104"/>
            <a:ext cx="30946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約700万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52374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世帯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798064"/>
            <a:ext cx="29666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65歳以上の一人暮らし</a:t>
            </a:r>
            <a:endParaRPr lang="en-US" sz="10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（内閣府 高齢社会白書）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75378" y="1828800"/>
            <a:ext cx="3240938" cy="1508760"/>
          </a:xfrm>
          <a:prstGeom prst="rect">
            <a:avLst/>
          </a:prstGeom>
          <a:solidFill>
            <a:srgbClr val="F7F4F2"/>
          </a:solidFill>
          <a:ln/>
        </p:spPr>
      </p:sp>
      <p:sp>
        <p:nvSpPr>
          <p:cNvPr id="9" name="Text 7"/>
          <p:cNvSpPr/>
          <p:nvPr/>
        </p:nvSpPr>
        <p:spPr>
          <a:xfrm>
            <a:off x="4548530" y="1975104"/>
            <a:ext cx="30946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3,000〜5,000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12538" y="252374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 / 月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12538" y="2798064"/>
            <a:ext cx="29666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既存のセンサー型</a:t>
            </a:r>
            <a:endParaRPr lang="en-US" sz="10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見守りサービスの相場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73517" y="1828800"/>
            <a:ext cx="3240938" cy="1508760"/>
          </a:xfrm>
          <a:prstGeom prst="rect">
            <a:avLst/>
          </a:prstGeom>
          <a:solidFill>
            <a:srgbClr val="F7F4F2"/>
          </a:solidFill>
          <a:ln/>
        </p:spPr>
      </p:sp>
      <p:sp>
        <p:nvSpPr>
          <p:cNvPr id="13" name="Text 11"/>
          <p:cNvSpPr/>
          <p:nvPr/>
        </p:nvSpPr>
        <p:spPr>
          <a:xfrm>
            <a:off x="8246669" y="1975104"/>
            <a:ext cx="30946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310677" y="252374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10677" y="2798064"/>
            <a:ext cx="29666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新規の見守り機器</a:t>
            </a:r>
            <a:endParaRPr lang="en-US" sz="10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（家電はすでにある）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352044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成立の条件は「安いこと」ではなく、「置けること」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77240" y="4142232"/>
            <a:ext cx="36576" cy="310896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8" name="Text 16"/>
          <p:cNvSpPr/>
          <p:nvPr/>
        </p:nvSpPr>
        <p:spPr>
          <a:xfrm>
            <a:off x="978408" y="4023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導入の障壁を外した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383280" y="4023360"/>
            <a:ext cx="8031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カメラもマットも要らない。スマートプラグを既存の家電に挿すだけ。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「見張られる」と感じさせないから、本人が拒まない。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" y="4800600"/>
            <a:ext cx="36576" cy="310896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21" name="Text 19"/>
          <p:cNvSpPr/>
          <p:nvPr/>
        </p:nvSpPr>
        <p:spPr>
          <a:xfrm>
            <a:off x="978408" y="46817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受け手の負担も外した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383280" y="4681728"/>
            <a:ext cx="8031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専用アプリを入れさせない。通知も操作も LINE の中で完結する。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インストール率という最大の離脱要因が、そもそも発生しない。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5458968"/>
            <a:ext cx="36576" cy="310896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534009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原価が積み上がらない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383280" y="5340096"/>
            <a:ext cx="8031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判定はルールベース、LLM は会話時のみ。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1世帯あたりの固定費が小さく、月額数百円台でも粗利が残る。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685800"/>
            <a:ext cx="104086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は会話に使い、判断には使わない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1417320"/>
            <a:ext cx="104086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家電を任せるほど信頼していないから、任せない設計にした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2148840"/>
            <a:ext cx="3164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684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2999232"/>
            <a:ext cx="822960" cy="27432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108960"/>
            <a:ext cx="3164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テスト（全合格）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27778" y="2148840"/>
            <a:ext cx="3164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600" dirty="0"/>
          </a:p>
        </p:txBody>
      </p:sp>
      <p:sp>
        <p:nvSpPr>
          <p:cNvPr id="9" name="Shape 7"/>
          <p:cNvSpPr/>
          <p:nvPr/>
        </p:nvSpPr>
        <p:spPr>
          <a:xfrm>
            <a:off x="4627778" y="2999232"/>
            <a:ext cx="822960" cy="27432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0" name="Text 8"/>
          <p:cNvSpPr/>
          <p:nvPr/>
        </p:nvSpPr>
        <p:spPr>
          <a:xfrm>
            <a:off x="4627778" y="3108960"/>
            <a:ext cx="3164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 API キー（デモ実行時）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49717" y="2148840"/>
            <a:ext cx="3164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8249717" y="2999232"/>
            <a:ext cx="822960" cy="27432"/>
          </a:xfrm>
          <a:prstGeom prst="rect">
            <a:avLst/>
          </a:prstGeom>
          <a:solidFill>
            <a:srgbClr val="A26769"/>
          </a:solidFill>
          <a:ln/>
        </p:spPr>
      </p:sp>
      <p:sp>
        <p:nvSpPr>
          <p:cNvPr id="13" name="Text 11"/>
          <p:cNvSpPr/>
          <p:nvPr/>
        </p:nvSpPr>
        <p:spPr>
          <a:xfrm>
            <a:off x="8249717" y="3108960"/>
            <a:ext cx="3164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記録した「沈黙した障害」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05840" y="3794760"/>
            <a:ext cx="10408615" cy="1371600"/>
          </a:xfrm>
          <a:prstGeom prst="rect">
            <a:avLst/>
          </a:prstGeom>
          <a:solidFill>
            <a:srgbClr val="F7F4F2"/>
          </a:solidFill>
          <a:ln/>
        </p:spPr>
      </p:sp>
      <p:sp>
        <p:nvSpPr>
          <p:cNvPr id="15" name="Text 13"/>
          <p:cNvSpPr/>
          <p:nvPr/>
        </p:nvSpPr>
        <p:spPr>
          <a:xfrm>
            <a:off x="1280160" y="396849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560320" y="3968496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https://github.com/monoqlo78/mimamoritai-careroute-ai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デモ動画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560320" y="4352544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docs/demo/mimamoritai-demo.mp4（字幕・ナレーション入り / 3分11秒）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473659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2676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解説記事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560320" y="4736592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https://qiita.com/monoqlo78/items/dcac9e0ee6c1d0bfe07d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" y="5440680"/>
            <a:ext cx="10408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D2E4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安全判定を LLM の外側に置いたか、内側でお願いしたか。そこが一番の分岐点だった。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77240" y="6236208"/>
            <a:ext cx="10637215" cy="0"/>
          </a:xfrm>
          <a:prstGeom prst="line">
            <a:avLst/>
          </a:prstGeom>
          <a:noFill/>
          <a:ln w="9525">
            <a:solidFill>
              <a:srgbClr val="E4DE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見守り隊 / CareRoute AI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500055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B9B9B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見守り隊 / CareRoute AI</dc:title>
  <dc:subject>PptxGenJS Presentation</dc:subject>
  <dc:creator>見守り隊 / CareRoute AI</dc:creator>
  <cp:lastModifiedBy>見守り隊 / CareRoute AI</cp:lastModifiedBy>
  <cp:revision>1</cp:revision>
  <dcterms:created xsi:type="dcterms:W3CDTF">2026-08-13T02:57:51Z</dcterms:created>
  <dcterms:modified xsi:type="dcterms:W3CDTF">2026-08-13T02:57:51Z</dcterms:modified>
</cp:coreProperties>
</file>